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5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Ideal Linear Speedup</c:v>
                </c:pt>
              </c:strCache>
            </c:strRef>
          </c:tx>
          <c:spPr>
            <a:ln w="31750" cap="flat">
              <a:solidFill>
                <a:srgbClr val="2A3F6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A3F6F"/>
              </a:solidFill>
              <a:ln w="9525" cap="flat">
                <a:solidFill>
                  <a:srgbClr val="2A3F6F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38A0-4A34-9BF6-43BDE0BFBDB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Amdahl (P=0.95)</c:v>
                </c:pt>
              </c:strCache>
            </c:strRef>
          </c:tx>
          <c:spPr>
            <a:ln w="31750" cap="flat">
              <a:solidFill>
                <a:srgbClr val="10B98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</c:v>
                </c:pt>
                <c:pt idx="1">
                  <c:v>1.9</c:v>
                </c:pt>
                <c:pt idx="2">
                  <c:v>3.5</c:v>
                </c:pt>
                <c:pt idx="3">
                  <c:v>4.8</c:v>
                </c:pt>
                <c:pt idx="4">
                  <c:v>5.9</c:v>
                </c:pt>
                <c:pt idx="5">
                  <c:v>6.9</c:v>
                </c:pt>
                <c:pt idx="6">
                  <c:v>7.7</c:v>
                </c:pt>
                <c:pt idx="7">
                  <c:v>8.5</c:v>
                </c:pt>
                <c:pt idx="8">
                  <c:v>9.1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38A0-4A34-9BF6-43BDE0BFBD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Thread Count (N)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A3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Speedup (×)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A0E16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Peak Speedup (×)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014-4A92-87B9-AF47054F9E15}"/>
              </c:ext>
            </c:extLst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014-4A92-87B9-AF47054F9E15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014-4A92-87B9-AF47054F9E1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Baseline OpenMP</c:v>
                </c:pt>
                <c:pt idx="1">
                  <c:v>Cache-Blocked (64×64)</c:v>
                </c:pt>
                <c:pt idx="2">
                  <c:v>AVX2 SIMD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3.4</c:v>
                </c:pt>
                <c:pt idx="1">
                  <c:v>6.7</c:v>
                </c:pt>
                <c:pt idx="2">
                  <c:v>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014-4A92-87B9-AF47054F9E1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A3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Speedup (×)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A0E1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29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C28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1C28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34640" y="0"/>
            <a:ext cx="0" cy="5143500"/>
          </a:xfrm>
          <a:prstGeom prst="line">
            <a:avLst/>
          </a:prstGeom>
          <a:noFill/>
          <a:ln w="6350">
            <a:solidFill>
              <a:srgbClr val="1C28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1C28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0" y="0"/>
            <a:ext cx="0" cy="5143500"/>
          </a:xfrm>
          <a:prstGeom prst="line">
            <a:avLst/>
          </a:prstGeom>
          <a:noFill/>
          <a:ln w="6350">
            <a:solidFill>
              <a:srgbClr val="1C28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C28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0" y="0"/>
            <a:ext cx="0" cy="5143500"/>
          </a:xfrm>
          <a:prstGeom prst="line">
            <a:avLst/>
          </a:prstGeom>
          <a:noFill/>
          <a:ln w="6350">
            <a:solidFill>
              <a:srgbClr val="1C28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1C28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274320"/>
            <a:ext cx="3474720" cy="3474720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75120" y="731520"/>
            <a:ext cx="2560320" cy="256032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914400"/>
            <a:ext cx="2377440" cy="292608"/>
          </a:xfrm>
          <a:prstGeom prst="rect">
            <a:avLst/>
          </a:prstGeom>
          <a:solidFill>
            <a:srgbClr val="00D4FF">
              <a:alpha val="25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9144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D4FF"/>
                </a:solidFill>
              </a:rPr>
              <a:t>HPC · PARALLEL COMPUTING · ITS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11480" y="1371600"/>
            <a:ext cx="6858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Ignite-HPC</a:t>
            </a:r>
            <a:endParaRPr lang="en-US" sz="6200" dirty="0"/>
          </a:p>
        </p:txBody>
      </p:sp>
      <p:sp>
        <p:nvSpPr>
          <p:cNvPr id="16" name="Text 14"/>
          <p:cNvSpPr/>
          <p:nvPr/>
        </p:nvSpPr>
        <p:spPr>
          <a:xfrm>
            <a:off x="411480" y="251460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Parallel Image Processing Engine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11480" y="315468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Hardware-Level Optimization &amp; Multi-Core Profiling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Intelligent Transport Systems (ITS)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11480" y="4251960"/>
            <a:ext cx="109728" cy="10972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" y="42062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Divyansh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28800" y="4251960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93392" y="42062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Tanu Meena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425196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0712" y="42062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Hanmant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425196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42062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1B2A"/>
          </a:solidFill>
          <a:ln w="12700">
            <a:solidFill>
              <a:srgbClr val="14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Background &amp; The Computational Bottleneck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788920" cy="3566160"/>
          </a:xfrm>
          <a:prstGeom prst="rect">
            <a:avLst/>
          </a:prstGeom>
          <a:solidFill>
            <a:srgbClr val="1E2A3A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88720"/>
            <a:ext cx="278892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Domain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" y="2377440"/>
            <a:ext cx="2514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Transport Systems (ITS) rely on Computer Vision for real-time highway monitoring at 4K resolution @ 60fps.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27832" y="1188720"/>
            <a:ext cx="2788920" cy="3566160"/>
          </a:xfrm>
          <a:prstGeom prst="rect">
            <a:avLst/>
          </a:prstGeom>
          <a:solidFill>
            <a:srgbClr val="1E2A3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27832" y="1188720"/>
            <a:ext cx="278892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2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∑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364992" y="19202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Mathematical Complexity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64992" y="2377440"/>
            <a:ext cx="2514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Convolution has time complexity O(N × M × K²), where N, M are image dimensions and K is the kernel size.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81344" y="1188720"/>
            <a:ext cx="2788920" cy="3566160"/>
          </a:xfrm>
          <a:prstGeom prst="rect">
            <a:avLst/>
          </a:prstGeom>
          <a:solidFill>
            <a:srgbClr val="1E2A3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81344" y="1188720"/>
            <a:ext cx="27889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18504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⚠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318504" y="19202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Sequential Flaw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18504" y="2377440"/>
            <a:ext cx="2514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Single-thread CPUs suffer from von Neumann bottlenecks — unable to handle Matrix Multiplications for real-time feature extraction, causing massive stream latency.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1B2A"/>
          </a:solidFill>
          <a:ln w="12700">
            <a:solidFill>
              <a:srgbClr val="14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Proposed Dual-Layer Architecture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3931920" cy="3566160"/>
          </a:xfrm>
          <a:prstGeom prst="rect">
            <a:avLst/>
          </a:prstGeom>
          <a:solidFill>
            <a:srgbClr val="1E2A3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3931920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0C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LAYER 1 — Execution Engine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Backend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10312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Replaced OpenCV with pure C++ + STB Headers for raw byte-level memory access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Fork-Join Model via OpenMP APIs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C++ compiler intrinsics for hardware-level control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Direct register-level manipulation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2651760"/>
            <a:ext cx="4572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7C3AED"/>
                </a:solidFill>
              </a:rPr>
              <a:t>⇄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846320" y="1188720"/>
            <a:ext cx="3931920" cy="3566160"/>
          </a:xfrm>
          <a:prstGeom prst="rect">
            <a:avLst/>
          </a:prstGeom>
          <a:solidFill>
            <a:srgbClr val="1E2A3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1188720"/>
            <a:ext cx="3931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1887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0C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LAYER 2 — Analytics Engine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17830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Web UI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210312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Python Data-Bridge scrapes compilation metrics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Interactive HTML5/JS dashboard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Real-time Amdahl's Law profiling visualization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Live thread-efficiency monitoring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1B2A"/>
          </a:solidFill>
          <a:ln w="12700">
            <a:solidFill>
              <a:srgbClr val="14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Thread-Level Parallelism (OpenMP)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Approach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Shared-Memory Parallelism distributes heavy 2D Convolution loops across 16 logical hardware threads for maximum spatial throughput.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4114800" cy="822960"/>
          </a:xfrm>
          <a:prstGeom prst="rect">
            <a:avLst/>
          </a:prstGeom>
          <a:solidFill>
            <a:srgbClr val="0A0E16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231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#pragma omp parallel for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collapse(2) schedule(dynamic)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1737360" cy="301752"/>
          </a:xfrm>
          <a:prstGeom prst="rect">
            <a:avLst/>
          </a:prstGeom>
          <a:solidFill>
            <a:srgbClr val="00D4FF">
              <a:alpha val="25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337560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</a:rPr>
              <a:t>16 Threads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749040"/>
            <a:ext cx="1737360" cy="301752"/>
          </a:xfrm>
          <a:prstGeom prst="rect">
            <a:avLst/>
          </a:prstGeom>
          <a:solidFill>
            <a:srgbClr val="10B981">
              <a:alpha val="25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749040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</a:rPr>
              <a:t>Shared Memory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4160520"/>
            <a:ext cx="1737360" cy="301752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160520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</a:rPr>
              <a:t>Dynamic Scheduling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4114800" cy="1691640"/>
          </a:xfrm>
          <a:prstGeom prst="rect">
            <a:avLst/>
          </a:prstGeom>
          <a:solidFill>
            <a:srgbClr val="1E2A3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188720"/>
            <a:ext cx="64008" cy="1691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2984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collapse(2)?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164592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Flattens the 2D spatial grid (y, x coordinates) into a 1D contiguous iteration space for optimal thread dispatching.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063240"/>
            <a:ext cx="4114800" cy="1691640"/>
          </a:xfrm>
          <a:prstGeom prst="rect">
            <a:avLst/>
          </a:prstGeom>
          <a:solidFill>
            <a:srgbClr val="1E2A3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3063240"/>
            <a:ext cx="64008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1729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Dynamic Scheduling?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352044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Thread Starvation. Image areas vary in calculation density — dynamic chunk allocation balances CPU load at runtime rather than static pre-allocation.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1B2A"/>
          </a:solidFill>
          <a:ln w="12700">
            <a:solidFill>
              <a:srgbClr val="14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Optimization I — Cache Blocking (Tiling)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4114800" cy="1783080"/>
          </a:xfrm>
          <a:prstGeom prst="rect">
            <a:avLst/>
          </a:prstGeom>
          <a:solidFill>
            <a:srgbClr val="1E2A3A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43000"/>
            <a:ext cx="41148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344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  The Problem: Cache Thrashing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6459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Row-Major traversal of a 1080p image causes early data to be evicted from L1/L2 Cache to RAM before the row ends — causing massive latency.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94560" y="2926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59E0B"/>
                </a:solidFill>
              </a:rPr>
              <a:t>↓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65760" y="3246120"/>
            <a:ext cx="4114800" cy="1600200"/>
          </a:xfrm>
          <a:prstGeom prst="rect">
            <a:avLst/>
          </a:prstGeom>
          <a:solidFill>
            <a:srgbClr val="1E2A3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3246120"/>
            <a:ext cx="41148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3375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 The Fix: 64×64 Pixel Tiling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37490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Re-engineered loops into strict 64×64 Pixel Tiles. The matrix block stays continuously locked in ultra-fast SRAM (L1 Cache) during the entire convolution pass.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1188720"/>
            <a:ext cx="658368" cy="566928"/>
          </a:xfrm>
          <a:prstGeom prst="rect">
            <a:avLst/>
          </a:prstGeom>
          <a:solidFill>
            <a:srgbClr val="1A2740"/>
          </a:solidFill>
          <a:ln w="6350">
            <a:solidFill>
              <a:srgbClr val="2A3F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15000" y="1188720"/>
            <a:ext cx="658368" cy="566928"/>
          </a:xfrm>
          <a:prstGeom prst="rect">
            <a:avLst/>
          </a:prstGeom>
          <a:solidFill>
            <a:srgbClr val="1A2740"/>
          </a:solidFill>
          <a:ln w="6350">
            <a:solidFill>
              <a:srgbClr val="2A3F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1188720"/>
            <a:ext cx="658368" cy="566928"/>
          </a:xfrm>
          <a:prstGeom prst="rect">
            <a:avLst/>
          </a:prstGeom>
          <a:solidFill>
            <a:srgbClr val="1A2740"/>
          </a:solidFill>
          <a:ln w="6350">
            <a:solidFill>
              <a:srgbClr val="2A3F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86600" y="1188720"/>
            <a:ext cx="658368" cy="566928"/>
          </a:xfrm>
          <a:prstGeom prst="rect">
            <a:avLst/>
          </a:prstGeom>
          <a:solidFill>
            <a:srgbClr val="1A2740"/>
          </a:solidFill>
          <a:ln w="6350">
            <a:solidFill>
              <a:srgbClr val="2A3F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1783080"/>
            <a:ext cx="658368" cy="566928"/>
          </a:xfrm>
          <a:prstGeom prst="rect">
            <a:avLst/>
          </a:prstGeom>
          <a:solidFill>
            <a:srgbClr val="1A2740"/>
          </a:solidFill>
          <a:ln w="6350">
            <a:solidFill>
              <a:srgbClr val="2A3F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15000" y="1783080"/>
            <a:ext cx="658368" cy="566928"/>
          </a:xfrm>
          <a:prstGeom prst="rect">
            <a:avLst/>
          </a:prstGeom>
          <a:solidFill>
            <a:srgbClr val="00D4FF">
              <a:alpha val="70000"/>
            </a:srgbClr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15000" y="178308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0C14"/>
                </a:solidFill>
              </a:rPr>
              <a:t>L1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80C14"/>
                </a:solidFill>
              </a:rPr>
              <a:t>Cache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400800" y="1783080"/>
            <a:ext cx="658368" cy="566928"/>
          </a:xfrm>
          <a:prstGeom prst="rect">
            <a:avLst/>
          </a:prstGeom>
          <a:solidFill>
            <a:srgbClr val="00D4FF">
              <a:alpha val="70000"/>
            </a:srgbClr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178308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0C14"/>
                </a:solidFill>
              </a:rPr>
              <a:t>L1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80C14"/>
                </a:solidFill>
              </a:rPr>
              <a:t>Cache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086600" y="1783080"/>
            <a:ext cx="658368" cy="566928"/>
          </a:xfrm>
          <a:prstGeom prst="rect">
            <a:avLst/>
          </a:prstGeom>
          <a:solidFill>
            <a:srgbClr val="1A2740"/>
          </a:solidFill>
          <a:ln w="6350">
            <a:solidFill>
              <a:srgbClr val="2A3F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0" y="2377440"/>
            <a:ext cx="658368" cy="566928"/>
          </a:xfrm>
          <a:prstGeom prst="rect">
            <a:avLst/>
          </a:prstGeom>
          <a:solidFill>
            <a:srgbClr val="1A2740"/>
          </a:solidFill>
          <a:ln w="6350">
            <a:solidFill>
              <a:srgbClr val="2A3F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15000" y="2377440"/>
            <a:ext cx="658368" cy="566928"/>
          </a:xfrm>
          <a:prstGeom prst="rect">
            <a:avLst/>
          </a:prstGeom>
          <a:solidFill>
            <a:srgbClr val="00D4FF">
              <a:alpha val="70000"/>
            </a:srgbClr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15000" y="237744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0C14"/>
                </a:solidFill>
              </a:rPr>
              <a:t>L1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80C14"/>
                </a:solidFill>
              </a:rPr>
              <a:t>Cache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00800" y="2377440"/>
            <a:ext cx="658368" cy="566928"/>
          </a:xfrm>
          <a:prstGeom prst="rect">
            <a:avLst/>
          </a:prstGeom>
          <a:solidFill>
            <a:srgbClr val="00D4FF">
              <a:alpha val="70000"/>
            </a:srgbClr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237744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0C14"/>
                </a:solidFill>
              </a:rPr>
              <a:t>L1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80C14"/>
                </a:solidFill>
              </a:rPr>
              <a:t>Cache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086600" y="2377440"/>
            <a:ext cx="658368" cy="566928"/>
          </a:xfrm>
          <a:prstGeom prst="rect">
            <a:avLst/>
          </a:prstGeom>
          <a:solidFill>
            <a:srgbClr val="1A2740"/>
          </a:solidFill>
          <a:ln w="6350">
            <a:solidFill>
              <a:srgbClr val="2A3F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0" y="2971800"/>
            <a:ext cx="658368" cy="566928"/>
          </a:xfrm>
          <a:prstGeom prst="rect">
            <a:avLst/>
          </a:prstGeom>
          <a:solidFill>
            <a:srgbClr val="1A2740"/>
          </a:solidFill>
          <a:ln w="6350">
            <a:solidFill>
              <a:srgbClr val="2A3F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15000" y="2971800"/>
            <a:ext cx="658368" cy="566928"/>
          </a:xfrm>
          <a:prstGeom prst="rect">
            <a:avLst/>
          </a:prstGeom>
          <a:solidFill>
            <a:srgbClr val="1A2740"/>
          </a:solidFill>
          <a:ln w="6350">
            <a:solidFill>
              <a:srgbClr val="2A3F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0" y="2971800"/>
            <a:ext cx="658368" cy="566928"/>
          </a:xfrm>
          <a:prstGeom prst="rect">
            <a:avLst/>
          </a:prstGeom>
          <a:solidFill>
            <a:srgbClr val="1A2740"/>
          </a:solidFill>
          <a:ln w="6350">
            <a:solidFill>
              <a:srgbClr val="2A3F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86600" y="2971800"/>
            <a:ext cx="658368" cy="566928"/>
          </a:xfrm>
          <a:prstGeom prst="rect">
            <a:avLst/>
          </a:prstGeom>
          <a:solidFill>
            <a:srgbClr val="1A2740"/>
          </a:solidFill>
          <a:ln w="6350">
            <a:solidFill>
              <a:srgbClr val="2A3F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36576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64×64 Tile Grid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46320" y="3749040"/>
            <a:ext cx="4023360" cy="475488"/>
          </a:xfrm>
          <a:prstGeom prst="rect">
            <a:avLst/>
          </a:prstGeom>
          <a:solidFill>
            <a:srgbClr val="1E2A3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374904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Memory-Bound → Compute-Bound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846320" y="4343400"/>
            <a:ext cx="4023360" cy="475488"/>
          </a:xfrm>
          <a:prstGeom prst="rect">
            <a:avLst/>
          </a:prstGeom>
          <a:solidFill>
            <a:srgbClr val="1E2A3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434340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Eliminates Von Neumann Bottleneck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1B2A"/>
          </a:solidFill>
          <a:ln w="12700">
            <a:solidFill>
              <a:srgbClr val="14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Optimization II — AVX2 SIMD Vectorization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4114800" cy="1188720"/>
          </a:xfrm>
          <a:prstGeom prst="rect">
            <a:avLst/>
          </a:prstGeom>
          <a:solidFill>
            <a:srgbClr val="1E2A3A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43000"/>
            <a:ext cx="54864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887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Limitation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16 threads, individual cores process as scalars — only 1 pixel per clock cycle.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468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C++ Intrinsics (immintrin.h)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834640"/>
            <a:ext cx="4114800" cy="1005840"/>
          </a:xfrm>
          <a:prstGeom prst="rect">
            <a:avLst/>
          </a:prstGeom>
          <a:solidFill>
            <a:srgbClr val="0A0E16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88036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_mm256_loadu_si256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_mm256_sub_epi8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" y="393192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Ryzen CPU's 256-bit YMM Registers via Advanced Vector Extensions (AVX2)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143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256-bit YMM Register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1600200"/>
            <a:ext cx="228600" cy="457200"/>
          </a:xfrm>
          <a:prstGeom prst="rect">
            <a:avLst/>
          </a:prstGeom>
          <a:solidFill>
            <a:srgbClr val="00D4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6002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P1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5097780" y="1600200"/>
            <a:ext cx="228600" cy="457200"/>
          </a:xfrm>
          <a:prstGeom prst="rect">
            <a:avLst/>
          </a:prstGeom>
          <a:solidFill>
            <a:srgbClr val="00B8E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7780" y="16002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P2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5349240" y="1600200"/>
            <a:ext cx="228600" cy="457200"/>
          </a:xfrm>
          <a:prstGeom prst="rect">
            <a:avLst/>
          </a:prstGeom>
          <a:solidFill>
            <a:srgbClr val="009EC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6002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P3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5600700" y="1600200"/>
            <a:ext cx="228600" cy="457200"/>
          </a:xfrm>
          <a:prstGeom prst="rect">
            <a:avLst/>
          </a:prstGeom>
          <a:solidFill>
            <a:srgbClr val="0084A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00700" y="16002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P4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5852160" y="1600200"/>
            <a:ext cx="228600" cy="457200"/>
          </a:xfrm>
          <a:prstGeom prst="rect">
            <a:avLst/>
          </a:prstGeom>
          <a:solidFill>
            <a:srgbClr val="006A8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0" y="16002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P5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6103620" y="1600200"/>
            <a:ext cx="228600" cy="457200"/>
          </a:xfrm>
          <a:prstGeom prst="rect">
            <a:avLst/>
          </a:prstGeom>
          <a:solidFill>
            <a:srgbClr val="0052A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03620" y="16002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P6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6355080" y="1600200"/>
            <a:ext cx="228600" cy="457200"/>
          </a:xfrm>
          <a:prstGeom prst="rect">
            <a:avLst/>
          </a:prstGeom>
          <a:solidFill>
            <a:srgbClr val="7C3AE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16002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P7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6606540" y="1600200"/>
            <a:ext cx="228600" cy="457200"/>
          </a:xfrm>
          <a:prstGeom prst="rect">
            <a:avLst/>
          </a:prstGeom>
          <a:solidFill>
            <a:srgbClr val="6D28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06540" y="16002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P8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6858000" y="1600200"/>
            <a:ext cx="228600" cy="457200"/>
          </a:xfrm>
          <a:prstGeom prst="rect">
            <a:avLst/>
          </a:prstGeom>
          <a:solidFill>
            <a:srgbClr val="5B21B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16002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P9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7109460" y="1600200"/>
            <a:ext cx="228600" cy="457200"/>
          </a:xfrm>
          <a:prstGeom prst="rect">
            <a:avLst/>
          </a:prstGeom>
          <a:solidFill>
            <a:srgbClr val="4C1D9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09460" y="16002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P10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7360920" y="1600200"/>
            <a:ext cx="228600" cy="457200"/>
          </a:xfrm>
          <a:prstGeom prst="rect">
            <a:avLst/>
          </a:prstGeom>
          <a:solidFill>
            <a:srgbClr val="10B98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60920" y="16002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P11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7612380" y="1600200"/>
            <a:ext cx="228600" cy="457200"/>
          </a:xfrm>
          <a:prstGeom prst="rect">
            <a:avLst/>
          </a:prstGeom>
          <a:solidFill>
            <a:srgbClr val="05966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12380" y="16002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P12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7863840" y="1600200"/>
            <a:ext cx="228600" cy="457200"/>
          </a:xfrm>
          <a:prstGeom prst="rect">
            <a:avLst/>
          </a:prstGeom>
          <a:solidFill>
            <a:srgbClr val="04785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63840" y="16002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P13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8115300" y="1600200"/>
            <a:ext cx="228600" cy="457200"/>
          </a:xfrm>
          <a:prstGeom prst="rect">
            <a:avLst/>
          </a:prstGeom>
          <a:solidFill>
            <a:srgbClr val="065F4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15300" y="16002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P14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8366760" y="1600200"/>
            <a:ext cx="228600" cy="457200"/>
          </a:xfrm>
          <a:prstGeom prst="rect">
            <a:avLst/>
          </a:prstGeom>
          <a:solidFill>
            <a:srgbClr val="064E3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66760" y="16002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P15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8618220" y="1600200"/>
            <a:ext cx="228600" cy="457200"/>
          </a:xfrm>
          <a:prstGeom prst="rect">
            <a:avLst/>
          </a:prstGeom>
          <a:solidFill>
            <a:srgbClr val="022C2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18220" y="16002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P16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4846320" y="2148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pixels processed simultaneously per instruction cycle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846320" y="2651760"/>
            <a:ext cx="4023360" cy="2148840"/>
          </a:xfrm>
          <a:prstGeom prst="rect">
            <a:avLst/>
          </a:prstGeom>
          <a:solidFill>
            <a:srgbClr val="1E2A3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46320" y="2651760"/>
            <a:ext cx="40233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83480" y="2743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Mathematical Yield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4983480" y="3154680"/>
            <a:ext cx="37490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ALU loads, computes, and stores 32 bytes of pixel data simultaneously per instruction cycle — creating virtually instantaneous point-wise transformations.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1B2A"/>
          </a:solidFill>
          <a:ln w="12700">
            <a:solidFill>
              <a:srgbClr val="14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Amdahl's Law &amp; Computational Profiling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8412480" cy="777240"/>
          </a:xfrm>
          <a:prstGeom prst="rect">
            <a:avLst/>
          </a:prstGeom>
          <a:solidFill>
            <a:srgbClr val="0A0E1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4300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Speedup = </a:t>
            </a: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((1 - P) + P/N)</a:t>
            </a:r>
            <a:r>
              <a:rPr lang="en-US" sz="1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where P = parallelizable fraction,  N = core count</a:t>
            </a:r>
            <a:endParaRPr lang="en-US" sz="18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65760" y="2011680"/>
          <a:ext cx="50292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5486400" y="205740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0C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35040" y="201168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Baseline Recording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035040" y="235915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compiles workloads from 1 to 16 threads and timestamps execution against a scalar baseline.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0" y="301752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0C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35040" y="297180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Plotting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035040" y="331927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maps datapoints against the Ideal Linear Speedup curve in real-time.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0" y="397764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0C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035040" y="393192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Saturation Detection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035040" y="427939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visually identifies the thread count at which Processor memory bandwidth fully saturates.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1B2A"/>
          </a:solidFill>
          <a:ln w="12700">
            <a:solidFill>
              <a:srgbClr val="14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Execution Results &amp; Speedup Matrices</a:t>
            </a:r>
            <a:endParaRPr lang="en-US" sz="2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143000"/>
          <a:ext cx="5029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486400" y="1143000"/>
            <a:ext cx="3383280" cy="1051560"/>
          </a:xfrm>
          <a:prstGeom prst="rect">
            <a:avLst/>
          </a:prstGeom>
          <a:solidFill>
            <a:srgbClr val="1E2A3A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0" y="1143000"/>
            <a:ext cx="64008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77840" y="118872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~3.4×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7086600" y="121615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OpenMP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(RAM bottleneck)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086600" y="1737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Memory-Bound Plateau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0" y="2331720"/>
            <a:ext cx="3383280" cy="1051560"/>
          </a:xfrm>
          <a:prstGeom prst="rect">
            <a:avLst/>
          </a:prstGeom>
          <a:solidFill>
            <a:srgbClr val="1E2A3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0" y="2331720"/>
            <a:ext cx="64008" cy="1051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77840" y="237744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~6.7×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7086600" y="240487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Tiling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(64×64 blocks)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086600" y="2926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Compute-Bound Leap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86400" y="3520440"/>
            <a:ext cx="3383280" cy="1051560"/>
          </a:xfrm>
          <a:prstGeom prst="rect">
            <a:avLst/>
          </a:prstGeom>
          <a:solidFill>
            <a:srgbClr val="1E2A3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0" y="3520440"/>
            <a:ext cx="64008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77840" y="356616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∞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7086600" y="359359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AVX2 SIMD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(0.000s execution)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086600" y="41148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Theoretically Infinite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AVX2 reduced execution time to near 0.000s — effectively infinite speedup for supported algorithms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1B2A"/>
          </a:solidFill>
          <a:ln w="12700">
            <a:solidFill>
              <a:srgbClr val="14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Demonstrations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5120640" cy="3657600"/>
          </a:xfrm>
          <a:prstGeom prst="rect">
            <a:avLst/>
          </a:prstGeom>
          <a:solidFill>
            <a:srgbClr val="0A0E1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43000"/>
            <a:ext cx="5120640" cy="3657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52728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252728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252728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11612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Ignite-HPC Dashboard v1.0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600200"/>
            <a:ext cx="2286000" cy="1645920"/>
          </a:xfrm>
          <a:prstGeom prst="rect">
            <a:avLst/>
          </a:prstGeom>
          <a:solidFill>
            <a:srgbClr val="0F22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6002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0" y="1600200"/>
            <a:ext cx="2286000" cy="1645920"/>
          </a:xfrm>
          <a:prstGeom prst="rect">
            <a:avLst/>
          </a:prstGeom>
          <a:solidFill>
            <a:srgbClr val="0F1A2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16002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AVX2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15768" y="1600200"/>
            <a:ext cx="54864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96896" y="2350008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96896" y="23500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C14"/>
                </a:solidFill>
              </a:rPr>
              <a:t>⇆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291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Drag to Compare →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2286000" cy="292608"/>
          </a:xfrm>
          <a:prstGeom prst="rect">
            <a:avLst/>
          </a:prstGeom>
          <a:solidFill>
            <a:srgbClr val="EF4444">
              <a:alpha val="20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6118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Memory Saturated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880360" y="361188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 baseline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959352"/>
            <a:ext cx="2286000" cy="292608"/>
          </a:xfrm>
          <a:prstGeom prst="rect">
            <a:avLst/>
          </a:prstGeom>
          <a:solidFill>
            <a:srgbClr val="10B981">
              <a:alpha val="2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95935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Perfect Scaling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880360" y="395935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Tiled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306824"/>
            <a:ext cx="2286000" cy="292608"/>
          </a:xfrm>
          <a:prstGeom prst="rect">
            <a:avLst/>
          </a:prstGeom>
          <a:solidFill>
            <a:srgbClr val="F59E0B">
              <a:alpha val="2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30682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AVX2 Instantaneous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880360" y="430682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SIMD vectorized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0" y="1143000"/>
            <a:ext cx="3291840" cy="1691640"/>
          </a:xfrm>
          <a:prstGeom prst="rect">
            <a:avLst/>
          </a:prstGeom>
          <a:solidFill>
            <a:srgbClr val="1E2A3A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0" y="1143000"/>
            <a:ext cx="329184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06440" y="125272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Image Processing Split-Slider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806440" y="1664208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HTML5 canvas allowing manual drag comparison between the uncompressed original and the SIMD/Tiled output — visually proving quality parity.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669280" y="3017520"/>
            <a:ext cx="3291840" cy="1691640"/>
          </a:xfrm>
          <a:prstGeom prst="rect">
            <a:avLst/>
          </a:prstGeom>
          <a:solidFill>
            <a:srgbClr val="1E2A3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69280" y="3017520"/>
            <a:ext cx="32918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06440" y="312724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Dynamic Hardware Diagnostics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06440" y="3538728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engine calculates thread-efficiency in real-time and automatically assigns diagnostic badges to flag performance regime of each algorithm.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C28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1C28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834640" y="0"/>
            <a:ext cx="0" cy="5143500"/>
          </a:xfrm>
          <a:prstGeom prst="line">
            <a:avLst/>
          </a:prstGeom>
          <a:noFill/>
          <a:ln w="6350">
            <a:solidFill>
              <a:srgbClr val="1C28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1C28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0" y="0"/>
            <a:ext cx="0" cy="5143500"/>
          </a:xfrm>
          <a:prstGeom prst="line">
            <a:avLst/>
          </a:prstGeom>
          <a:noFill/>
          <a:ln w="6350">
            <a:solidFill>
              <a:srgbClr val="1C28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C28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0" y="0"/>
            <a:ext cx="0" cy="5143500"/>
          </a:xfrm>
          <a:prstGeom prst="line">
            <a:avLst/>
          </a:prstGeom>
          <a:noFill/>
          <a:ln w="6350">
            <a:solidFill>
              <a:srgbClr val="1C28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1C28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914400" y="2743200"/>
            <a:ext cx="4572000" cy="4572000"/>
          </a:xfrm>
          <a:prstGeom prst="ellipse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828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 &amp;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57200" y="129844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Trajectory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457200" y="2194560"/>
            <a:ext cx="5029200" cy="960120"/>
          </a:xfrm>
          <a:prstGeom prst="rect">
            <a:avLst/>
          </a:prstGeom>
          <a:solidFill>
            <a:srgbClr val="1E2A3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194560"/>
            <a:ext cx="64008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24028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Proven Finding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258775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hardware-level optimization (L1 Cache + SIMD) is more impactful than increasing physical core density on cloud servers.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5029200" cy="777240"/>
          </a:xfrm>
          <a:prstGeom prst="rect">
            <a:avLst/>
          </a:prstGeom>
          <a:solidFill>
            <a:srgbClr val="1E2A3A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246120"/>
            <a:ext cx="64008" cy="7772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27355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Real-World Viability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359359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 for minimizing latency in Smart-City CCTV Data Centers.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0" y="21488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669280" y="2651760"/>
            <a:ext cx="3291840" cy="1051560"/>
          </a:xfrm>
          <a:prstGeom prst="rect">
            <a:avLst/>
          </a:prstGeom>
          <a:solidFill>
            <a:srgbClr val="1E2A3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0" y="26791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🎮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355080" y="2651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CUDA GPU Kernels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55080" y="299008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AVX2 C++ matrix operations into CUDA kernels for NVIDIA massively-parallel GPU architectures.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69280" y="3840480"/>
            <a:ext cx="3291840" cy="1051560"/>
          </a:xfrm>
          <a:prstGeom prst="rect">
            <a:avLst/>
          </a:prstGeom>
          <a:solidFill>
            <a:srgbClr val="1E2A3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0" y="38679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355080" y="3840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AVX-512 Support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55080" y="417880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512-bit vector processing for next-generation enterprise servers — doubling SIMD throughput.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1C28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Ignite-HPC  ·  Hardware-Level Optimization  ·  ITS Research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817</Words>
  <Application>Microsoft Office PowerPoint</Application>
  <PresentationFormat>On-screen Show (16:9)</PresentationFormat>
  <Paragraphs>167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Ignite-HPC</dc:title>
  <dc:subject>PptxGenJS Presentation</dc:subject>
  <dc:creator>PptxGenJS</dc:creator>
  <cp:lastModifiedBy>Vishal Gautam</cp:lastModifiedBy>
  <cp:revision>2</cp:revision>
  <dcterms:created xsi:type="dcterms:W3CDTF">2026-04-21T10:29:54Z</dcterms:created>
  <dcterms:modified xsi:type="dcterms:W3CDTF">2026-04-21T17:00:28Z</dcterms:modified>
</cp:coreProperties>
</file>